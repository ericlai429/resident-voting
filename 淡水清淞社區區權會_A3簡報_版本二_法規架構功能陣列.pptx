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5119604" cy="106920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19604" cy="10692079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362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系統模組一 · 接入授權與名冊正規化中樞</a:t>
            </a:r>
          </a:p>
          <a:p>
            <a:pPr>
              <a:spcBef>
                <a:spcPts val="600"/>
              </a:spcBef>
              <a:defRPr sz="2800" b="1">
                <a:solidFill>
                  <a:srgbClr val="FFFFFF"/>
                </a:solidFill>
              </a:defRPr>
            </a:pPr>
            <a:r>
              <a:t>身分識別體系、門牌語意正規化引擎與實體離線發卡架構</a:t>
            </a:r>
          </a:p>
          <a:p>
            <a:pPr>
              <a:spcBef>
                <a:spcPts val="400"/>
              </a:spcBef>
              <a:defRPr sz="1600" b="1">
                <a:solidFill>
                  <a:srgbClr val="38BDF8"/>
                </a:solidFill>
              </a:defRPr>
            </a:pPr>
            <a:r>
              <a:t>整合台灣門牌多樣性表示法、防止誤匹配漏洞與實體抗災發卡機制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4297680" cy="6400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⚙️ 門牌語意正規化引擎架構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300" b="1">
                <a:solidFill>
                  <a:srgbClr val="0EA5E9"/>
                </a:solidFill>
              </a:defRPr>
            </a:pPr>
            <a:r>
              <a:t>台灣門牌多樣性統一標準化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正則語意剖析「棟別、樓層、室號、之幾」四維度獨立實體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智慧去除前綴零：自動將 12F-08、12樓8號、12-8 轉為標準字串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完全剔除 includes 模糊包含比對，杜絕 12F-1 匹配 12F-15 漏洞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跨棟別隔離機制：A棟-12F-8 與 B棟-12F-8 嚴格分流</a:t>
            </a:r>
          </a:p>
          <a:p>
            <a:pPr>
              <a:spcBef>
                <a:spcPts val="1600"/>
              </a:spcBef>
              <a:defRPr sz="1200" b="1">
                <a:solidFill>
                  <a:srgbClr val="38BDF8"/>
                </a:solidFill>
              </a:defRPr>
            </a:pPr>
            <a:r>
              <a:t>【核心指標】四維度正規化剖析，誤認率 0.000%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0" y="2468880"/>
            <a:ext cx="4297680" cy="6400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🔑 三因子大會防偽登入閘門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300" b="1">
                <a:solidFill>
                  <a:srgbClr val="0EA5E9"/>
                </a:solidFill>
              </a:defRPr>
            </a:pPr>
            <a:r>
              <a:t>身分查驗 · 手機末碼 · 現場PIN碼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第一因子：門牌戶號（滾輪滑動選定，支援鍵盤手動備援輸入）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第二因子：地政名冊登記所有權人手機末四碼身分核算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第三因子：當日大會現場動態 4 碼 PIN 碼（當日23:59:59失效）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無效遠端灌票防杜：未到場住戶即使得知戶號亦無法越區投票</a:t>
            </a:r>
          </a:p>
          <a:p>
            <a:pPr>
              <a:spcBef>
                <a:spcPts val="1600"/>
              </a:spcBef>
              <a:defRPr sz="1200" b="1">
                <a:solidFill>
                  <a:srgbClr val="38BDF8"/>
                </a:solidFill>
              </a:defRPr>
            </a:pPr>
            <a:r>
              <a:t>【核心指標】有效防杜遠端未到場幽靈投票 100%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2468880"/>
            <a:ext cx="4297680" cy="6400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🪪 法定 A4 憑證印製子系統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300" b="1">
                <a:solidFill>
                  <a:srgbClr val="0EA5E9"/>
                </a:solidFill>
              </a:defRPr>
            </a:pPr>
            <a:r>
              <a:t>大戶號 · 3.5px 粗框 · 2cm 護貝虛線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限定 admin (主委) / admin1 (總幹事) 授權啟用，具備安全鎖定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A4 直向標準版面 3×4 排列，單頁 12 格，493 戶自動演算 42 頁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特大戶號置頂（22-26px）+ 3.5px 粗實心外框，公信力高規辨識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外圍 ≥2cm 粗虛線裁切指南，剪裁後適配熱護貝膠膜密封</a:t>
            </a:r>
          </a:p>
          <a:p>
            <a:pPr>
              <a:spcBef>
                <a:spcPts val="1600"/>
              </a:spcBef>
              <a:defRPr sz="1200" b="1">
                <a:solidFill>
                  <a:srgbClr val="38BDF8"/>
                </a:solidFill>
              </a:defRPr>
            </a:pPr>
            <a:r>
              <a:t>【核心指標】限定 admin/admin1 啟用，A4 容納 12 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9235440"/>
            <a:ext cx="13624560" cy="822960"/>
          </a:xfrm>
          <a:prstGeom prst="roundRect">
            <a:avLst/>
          </a:prstGeom>
          <a:solidFill>
            <a:srgbClr val="02061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sz="1200" b="1">
                <a:solidFill>
                  <a:srgbClr val="94A3B8"/>
                </a:solidFill>
              </a:defRPr>
            </a:pPr>
            <a:r>
              <a:t>⚙️ 功能運作論述 · 以四維度正規化演算解決 12F-1 與 12F-15 誤匹配漏洞，支援雙因子防遠端灌票與 A4 12 格實體護貝憑證卡。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19604" cy="10692079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362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系統模組二 · 法規運算、票務防弊與高並發狀態中樞</a:t>
            </a:r>
          </a:p>
          <a:p>
            <a:pPr>
              <a:spcBef>
                <a:spcPts val="600"/>
              </a:spcBef>
              <a:defRPr sz="2800" b="1">
                <a:solidFill>
                  <a:srgbClr val="FFFFFF"/>
                </a:solidFill>
              </a:defRPr>
            </a:pPr>
            <a:r>
              <a:t>一人一票坪數快照鎖定、條例第31條雙門檻運算與容災同步中樞</a:t>
            </a:r>
          </a:p>
          <a:p>
            <a:pPr>
              <a:spcBef>
                <a:spcPts val="400"/>
              </a:spcBef>
              <a:defRPr sz="1600" b="1">
                <a:solidFill>
                  <a:srgbClr val="38BDF8"/>
                </a:solidFill>
              </a:defRPr>
            </a:pPr>
            <a:r>
              <a:t>建立具備法律剛性的不可逆表決 Snapshot，落實司法級程序正義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4297680" cy="6400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🛡️ 持分坪數原子級快照機制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300" b="1">
                <a:solidFill>
                  <a:srgbClr val="0EA5E9"/>
                </a:solidFill>
              </a:defRPr>
            </a:pPr>
            <a:r>
              <a:t>IMMUTABLE WEIGHT SNAPSHOT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住戶送出選票當下，即刻固化當前持分坪數與權重比率為 Snapshot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嚴防大會開會期間名冊異動、過戶買賣造成之持分爭議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單一裝置特徵 UUID 綁定，阻斷多設備並行登入與同戶重複投票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資料庫層級 ACID 交易原子性保證，每票皆具備不可逆數位簽章</a:t>
            </a:r>
          </a:p>
          <a:p>
            <a:pPr>
              <a:spcBef>
                <a:spcPts val="1600"/>
              </a:spcBef>
              <a:defRPr sz="1200" b="1">
                <a:solidFill>
                  <a:srgbClr val="38BDF8"/>
                </a:solidFill>
              </a:defRPr>
            </a:pPr>
            <a:r>
              <a:t>【核心指標】權利持分即時快照，杜絕二次重複表決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0" y="2468880"/>
            <a:ext cx="4297680" cy="6400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⚖️ 法規第31條雙門檻運算核心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300" b="1">
                <a:solidFill>
                  <a:srgbClr val="0EA5E9"/>
                </a:solidFill>
              </a:defRPr>
            </a:pPr>
            <a:r>
              <a:t>PARALLEL DUAL-THRESHOLD ENGINE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門檻一：同意戶數必須嚴格大於出席戶數之 50%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門檻二：同意持分坪數必須嚴格大於出席坪數之 50%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雙門檻並行審查，未達標自動產出精準成因（人數未過或持分未過）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兼顧多數決民主程序與民法所有權持分保障，杜絕訴訟爭議</a:t>
            </a:r>
          </a:p>
          <a:p>
            <a:pPr>
              <a:spcBef>
                <a:spcPts val="1600"/>
              </a:spcBef>
              <a:defRPr sz="1200" b="1">
                <a:solidFill>
                  <a:srgbClr val="38BDF8"/>
                </a:solidFill>
              </a:defRPr>
            </a:pPr>
            <a:r>
              <a:t>【核心指標】《公寓大廈管理條例》第 31 條法定判定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2468880"/>
            <a:ext cx="4297680" cy="6400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📡 三層容災通訊與服務台管制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300" b="1">
                <a:solidFill>
                  <a:srgbClr val="0EA5E9"/>
                </a:solidFill>
              </a:defRPr>
            </a:pPr>
            <a:r>
              <a:t>0ms 廣播 · 本地快取 · 離線定時輪詢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第一層：BroadcastChannel 跨視窗 0ms 即時廣播同步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第二層：LocalStorage storage 事件脈衝通訊（跨分頁/進程）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第三層：1.2 秒定時輪詢備援機制（支援地下室無網路環境開通）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現場服務台換機解綁、號碼更正單鍵完成，住戶端 0 秒同步放行</a:t>
            </a:r>
          </a:p>
          <a:p>
            <a:pPr>
              <a:spcBef>
                <a:spcPts val="1600"/>
              </a:spcBef>
              <a:defRPr sz="1200" b="1">
                <a:solidFill>
                  <a:srgbClr val="38BDF8"/>
                </a:solidFill>
              </a:defRPr>
            </a:pPr>
            <a:r>
              <a:t>【核心指標】三層通訊備援，跨裝置推播延遲 &lt; 0.1 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9235440"/>
            <a:ext cx="13624560" cy="822960"/>
          </a:xfrm>
          <a:prstGeom prst="roundRect">
            <a:avLst/>
          </a:prstGeom>
          <a:solidFill>
            <a:srgbClr val="02061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sz="1200" b="1">
                <a:solidFill>
                  <a:srgbClr val="94A3B8"/>
                </a:solidFill>
              </a:defRPr>
            </a:pPr>
            <a:r>
              <a:t>⚙️ 功能運作論述 · 以原子級快照凍結表決坪數，嚴格落實人數過半且坪數過半法定雙門檻，結合三層容災通訊保證高並發穩定。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19604" cy="10692079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362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系統模組三 · 可視化開票、法規呈報與離線防偽存證架構</a:t>
            </a:r>
          </a:p>
          <a:p>
            <a:pPr>
              <a:spcBef>
                <a:spcPts val="600"/>
              </a:spcBef>
              <a:defRPr sz="2800" b="1">
                <a:solidFill>
                  <a:srgbClr val="FFFFFF"/>
                </a:solidFill>
              </a:defRPr>
            </a:pPr>
            <a:r>
              <a:t>大螢幕實時戰情室、A3 官方呈報公報與 Air-Gapped 離線防偽 QR</a:t>
            </a:r>
          </a:p>
          <a:p>
            <a:pPr>
              <a:spcBef>
                <a:spcPts val="400"/>
              </a:spcBef>
              <a:defRPr sz="1600" b="1">
                <a:solidFill>
                  <a:srgbClr val="38BDF8"/>
                </a:solidFill>
              </a:defRPr>
            </a:pPr>
            <a:r>
              <a:t>開票全流程公開透明，產出合規備查公文，離線狀態具備完整還原能力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4297680" cy="6400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🖥️ 即時計票戰情視覺化中樞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300" b="1">
                <a:solidFill>
                  <a:srgbClr val="0EA5E9"/>
                </a:solidFill>
              </a:defRPr>
            </a:pPr>
            <a:r>
              <a:t>LIVE WAR-ROOM ENGINE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大會現場大投影同步展現出席率進度與各案表決長條圖動態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贊成/反對之戶數比例與坪數權重雙軌實時跳動顯示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即時標記法定雙門檻跨越狀態，消除人工計票爭執與作票質疑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大幅縮短現場議事等待時間 70%，展現現代化科技治理實力</a:t>
            </a:r>
          </a:p>
          <a:p>
            <a:pPr>
              <a:spcBef>
                <a:spcPts val="1600"/>
              </a:spcBef>
              <a:defRPr sz="1200" b="1">
                <a:solidFill>
                  <a:srgbClr val="38BDF8"/>
                </a:solidFill>
              </a:defRPr>
            </a:pPr>
            <a:r>
              <a:t>【核心指標】開票長條圖即時動態刷新，縮減 70% 議程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0" y="2468880"/>
            <a:ext cx="4297680" cy="6400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📋 A3 橫式法定呈報公報模組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300" b="1">
                <a:solidFill>
                  <a:srgbClr val="0EA5E9"/>
                </a:solidFill>
              </a:defRPr>
            </a:pPr>
            <a:r>
              <a:t>STATUTORY REPORT GENERATOR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嚴格對齊地方主管機關（工務局）區權會大會決議備查公報格式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橫向 A3 單頁完整收錄大會時間地點、出席戶數坪數與各案決議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閉幕現場直接列印彩色公報，主任委員與總幹事當場簽章存證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會後免耗費數週彙整與算票，大幅降低管委會行政法務負擔</a:t>
            </a:r>
          </a:p>
          <a:p>
            <a:pPr>
              <a:spcBef>
                <a:spcPts val="1600"/>
              </a:spcBef>
              <a:defRPr sz="1200" b="1">
                <a:solidFill>
                  <a:srgbClr val="38BDF8"/>
                </a:solidFill>
              </a:defRPr>
            </a:pPr>
            <a:r>
              <a:t>【核心指標】大會決議公文 0 秒生成，現場即印即簽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2468880"/>
            <a:ext cx="4297680" cy="6400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🔐 Air-Gapped 離線高密度 QR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300" b="1">
                <a:solidFill>
                  <a:srgbClr val="0EA5E9"/>
                </a:solidFill>
              </a:defRPr>
            </a:pPr>
            <a:r>
              <a:t>RESILIENT AIR-GAPPED ARCHIVE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LZ-String 高密度壓縮全場大會數據（時間/地點/雙門檻/各案結算）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無伺服器、完全斷網狀態下，任何手機相機一掃 100% 完整還原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內嵌 SHA 數位不可逆防偽簽章，具備司法級紙本真實性校驗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正式大會上線前具備「一鍵淨空」機制，徹底銷毀測試資料 0 污染</a:t>
            </a:r>
          </a:p>
          <a:p>
            <a:pPr>
              <a:spcBef>
                <a:spcPts val="1600"/>
              </a:spcBef>
              <a:defRPr sz="1200" b="1">
                <a:solidFill>
                  <a:srgbClr val="38BDF8"/>
                </a:solidFill>
              </a:defRPr>
            </a:pPr>
            <a:r>
              <a:t>【核心指標】100% 離線抗災還原，33 項自主功能巡檢綠燈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9235440"/>
            <a:ext cx="13624560" cy="822960"/>
          </a:xfrm>
          <a:prstGeom prst="roundRect">
            <a:avLst/>
          </a:prstGeom>
          <a:solidFill>
            <a:srgbClr val="02061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sz="1200" b="1">
                <a:solidFill>
                  <a:srgbClr val="94A3B8"/>
                </a:solidFill>
              </a:defRPr>
            </a:pPr>
            <a:r>
              <a:t>⚙️ 功能運作論述 · 大螢幕開票長條圖化解黑箱猜忌，A3 法定報表會後即刻簽署，LZ-String 離線高密度封裝保證斷網下百分百還原。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